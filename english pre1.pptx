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61" r:id="rId6"/>
    <p:sldId id="262" r:id="rId7"/>
    <p:sldId id="264" r:id="rId8"/>
    <p:sldId id="265" r:id="rId9"/>
  </p:sldIdLst>
  <p:sldSz cx="18288000" cy="10287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ITC Avant Garde Gothic" panose="020B0604020202020204" charset="0"/>
      <p:regular r:id="rId14"/>
    </p:embeddedFont>
    <p:embeddedFont>
      <p:font typeface="Open Sauce" panose="020B0604020202020204" charset="0"/>
      <p:regular r:id="rId15"/>
    </p:embeddedFont>
    <p:embeddedFont>
      <p:font typeface="Open Sauce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68150" y="0"/>
            <a:ext cx="6419850" cy="10287000"/>
            <a:chOff x="0" y="0"/>
            <a:chExt cx="994603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94603" cy="1593725"/>
            </a:xfrm>
            <a:custGeom>
              <a:avLst/>
              <a:gdLst/>
              <a:ahLst/>
              <a:cxnLst/>
              <a:rect l="l" t="t" r="r" b="b"/>
              <a:pathLst>
                <a:path w="994603" h="1593725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126" b="-12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9763125" cy="4949824"/>
            <a:chOff x="0" y="0"/>
            <a:chExt cx="13017500" cy="6599766"/>
          </a:xfrm>
        </p:grpSpPr>
        <p:sp>
          <p:nvSpPr>
            <p:cNvPr id="5" name="TextBox 5"/>
            <p:cNvSpPr txBox="1"/>
            <p:nvPr/>
          </p:nvSpPr>
          <p:spPr>
            <a:xfrm>
              <a:off x="0" y="1184275"/>
              <a:ext cx="13017500" cy="54154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99"/>
                </a:lnSpc>
              </a:pPr>
              <a:r>
                <a:rPr lang="en-US" sz="9999" spc="-299">
                  <a:solidFill>
                    <a:srgbClr val="8A7F7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Discovering Our Loyal Companions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130175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8A7F7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DOG LOVERS UNITED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63474" y="9190990"/>
            <a:ext cx="7194651" cy="429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</a:pPr>
            <a:r>
              <a:rPr lang="en-US" sz="2600">
                <a:solidFill>
                  <a:srgbClr val="8A7F78"/>
                </a:solidFill>
                <a:latin typeface="Open Sauce"/>
                <a:ea typeface="Open Sauce"/>
                <a:cs typeface="Open Sauce"/>
                <a:sym typeface="Open Sauce"/>
              </a:rPr>
              <a:t>Presented by Tuhina Chris Sherlin B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444829" y="7829550"/>
            <a:ext cx="4846643" cy="1791955"/>
            <a:chOff x="0" y="0"/>
            <a:chExt cx="6462190" cy="238927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07B4A3-EA1D-407B-B374-67E4A6241280}"/>
              </a:ext>
            </a:extLst>
          </p:cNvPr>
          <p:cNvSpPr txBox="1"/>
          <p:nvPr/>
        </p:nvSpPr>
        <p:spPr>
          <a:xfrm>
            <a:off x="5638800" y="1257300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</a:t>
            </a:r>
            <a:r>
              <a:rPr lang="en-IN" dirty="0" err="1"/>
              <a:t>ssssssssssss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9240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7F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485663"/>
            <a:ext cx="12008927" cy="4680079"/>
            <a:chOff x="0" y="0"/>
            <a:chExt cx="16011903" cy="6240106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16011903" cy="18440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076"/>
                </a:lnSpc>
                <a:spcBef>
                  <a:spcPct val="0"/>
                </a:spcBef>
              </a:pPr>
              <a:r>
                <a:rPr lang="en-US" sz="9076" u="none" strike="noStrike" spc="-272">
                  <a:solidFill>
                    <a:srgbClr val="F0EFE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Introduction to Dogs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831496"/>
              <a:ext cx="11900002" cy="24086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571"/>
                </a:lnSpc>
              </a:pPr>
              <a:r>
                <a:rPr lang="en-US" sz="2551" dirty="0">
                  <a:solidFill>
                    <a:srgbClr val="F0EFE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Dogs have been our </a:t>
              </a:r>
              <a:r>
                <a:rPr lang="en-US" sz="2551" b="1" dirty="0">
                  <a:solidFill>
                    <a:srgbClr val="F0EFE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loyal companions</a:t>
              </a:r>
              <a:r>
                <a:rPr lang="en-US" sz="2551" dirty="0">
                  <a:solidFill>
                    <a:srgbClr val="F0EFE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for thousands of years, </a:t>
              </a:r>
              <a:r>
                <a:rPr lang="en-IN" sz="2550" dirty="0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Open Sauce" panose="020B0604020202020204" charset="0"/>
                </a:rPr>
                <a:t>valued</a:t>
              </a:r>
              <a:r>
                <a:rPr lang="en-IN" sz="2550" dirty="0">
                  <a:latin typeface="Open Sauce" panose="020B0604020202020204" charset="0"/>
                </a:rPr>
                <a:t> </a:t>
              </a:r>
              <a:r>
                <a:rPr lang="en-US" sz="2551" dirty="0">
                  <a:solidFill>
                    <a:srgbClr val="F0EFE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for their loyalty, intelligence, and unique abilities. They hold a significant place in our culture and bring joy to countless lives.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506719"/>
              <a:ext cx="13955952" cy="736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356"/>
                </a:lnSpc>
                <a:spcBef>
                  <a:spcPct val="0"/>
                </a:spcBef>
              </a:pPr>
              <a:r>
                <a:rPr lang="en-US" sz="3630" u="none" strike="noStrike" spc="-108">
                  <a:solidFill>
                    <a:srgbClr val="F0EFE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Our Beloved Companions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329284" y="7356839"/>
            <a:ext cx="6416235" cy="2372282"/>
            <a:chOff x="0" y="0"/>
            <a:chExt cx="8554980" cy="316304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63043" cy="3163043"/>
            </a:xfrm>
            <a:custGeom>
              <a:avLst/>
              <a:gdLst/>
              <a:ahLst/>
              <a:cxnLst/>
              <a:rect l="l" t="t" r="r" b="b"/>
              <a:pathLst>
                <a:path w="3163043" h="3163043">
                  <a:moveTo>
                    <a:pt x="0" y="0"/>
                  </a:moveTo>
                  <a:lnTo>
                    <a:pt x="3163043" y="0"/>
                  </a:lnTo>
                  <a:lnTo>
                    <a:pt x="3163043" y="3163043"/>
                  </a:lnTo>
                  <a:lnTo>
                    <a:pt x="0" y="3163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695969" y="0"/>
              <a:ext cx="3163043" cy="3163043"/>
            </a:xfrm>
            <a:custGeom>
              <a:avLst/>
              <a:gdLst/>
              <a:ahLst/>
              <a:cxnLst/>
              <a:rect l="l" t="t" r="r" b="b"/>
              <a:pathLst>
                <a:path w="3163043" h="3163043">
                  <a:moveTo>
                    <a:pt x="0" y="0"/>
                  </a:moveTo>
                  <a:lnTo>
                    <a:pt x="3163043" y="0"/>
                  </a:lnTo>
                  <a:lnTo>
                    <a:pt x="3163043" y="3163043"/>
                  </a:lnTo>
                  <a:lnTo>
                    <a:pt x="0" y="3163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5391938" y="0"/>
              <a:ext cx="3163043" cy="3163043"/>
            </a:xfrm>
            <a:custGeom>
              <a:avLst/>
              <a:gdLst/>
              <a:ahLst/>
              <a:cxnLst/>
              <a:rect l="l" t="t" r="r" b="b"/>
              <a:pathLst>
                <a:path w="3163043" h="3163043">
                  <a:moveTo>
                    <a:pt x="0" y="0"/>
                  </a:moveTo>
                  <a:lnTo>
                    <a:pt x="3163042" y="0"/>
                  </a:lnTo>
                  <a:lnTo>
                    <a:pt x="3163042" y="3163043"/>
                  </a:lnTo>
                  <a:lnTo>
                    <a:pt x="0" y="3163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C6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5613050"/>
            <a:ext cx="4614212" cy="3803378"/>
            <a:chOff x="-228600" y="-114300"/>
            <a:chExt cx="6152282" cy="5071171"/>
          </a:xfrm>
        </p:grpSpPr>
        <p:sp>
          <p:nvSpPr>
            <p:cNvPr id="3" name="TextBox 3"/>
            <p:cNvSpPr txBox="1"/>
            <p:nvPr/>
          </p:nvSpPr>
          <p:spPr>
            <a:xfrm>
              <a:off x="-228600" y="1053751"/>
              <a:ext cx="6152282" cy="390312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257"/>
                </a:lnSpc>
                <a:spcBef>
                  <a:spcPct val="0"/>
                </a:spcBef>
              </a:pPr>
              <a:r>
                <a:rPr lang="en-US" sz="2400" u="none" strike="noStrike" dirty="0">
                  <a:latin typeface="Open Sauce"/>
                  <a:ea typeface="Open Sauce"/>
                  <a:cs typeface="Open Sauce"/>
                  <a:sym typeface="Open Sauce"/>
                </a:rPr>
                <a:t>The Labrador Retriever is known for its friendly disposition, intelligence, and sociability, making it an ideal family pet. They are energetic and require regular exercise to thrive and stay healthy</a:t>
              </a:r>
              <a:r>
                <a:rPr lang="en-US" sz="2400" u="none" strike="noStrike" dirty="0">
                  <a:solidFill>
                    <a:srgbClr val="8A7F78"/>
                  </a:solidFill>
                  <a:latin typeface="Open Sauce"/>
                  <a:ea typeface="Open Sauce"/>
                  <a:cs typeface="Open Sauce"/>
                  <a:sym typeface="Open Sauce"/>
                </a:rPr>
                <a:t>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2551" y="-114300"/>
              <a:ext cx="5841130" cy="65522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032"/>
                </a:lnSpc>
                <a:spcBef>
                  <a:spcPct val="0"/>
                </a:spcBef>
              </a:pPr>
              <a:r>
                <a:rPr lang="en-US" sz="3200" u="none" strike="noStrike" spc="-86" dirty="0"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Labrador</a:t>
              </a:r>
              <a:r>
                <a:rPr lang="en-US" sz="3200" u="none" strike="noStrike" spc="-86" dirty="0">
                  <a:solidFill>
                    <a:srgbClr val="8A7F7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</a:t>
              </a:r>
              <a:r>
                <a:rPr lang="en-US" sz="3200" u="none" strike="noStrike" spc="-86" dirty="0"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Retriever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00800" y="5603525"/>
            <a:ext cx="4876800" cy="3838551"/>
            <a:chOff x="0" y="-104775"/>
            <a:chExt cx="5609652" cy="5422348"/>
          </a:xfrm>
        </p:grpSpPr>
        <p:sp>
          <p:nvSpPr>
            <p:cNvPr id="6" name="TextBox 6"/>
            <p:cNvSpPr txBox="1"/>
            <p:nvPr/>
          </p:nvSpPr>
          <p:spPr>
            <a:xfrm>
              <a:off x="0" y="1146174"/>
              <a:ext cx="5609652" cy="41713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400" b="1" dirty="0">
                  <a:latin typeface="Open Sauce Bold"/>
                  <a:ea typeface="Open Sauce Bold"/>
                  <a:cs typeface="Open Sauce Bold"/>
                  <a:sym typeface="Open Sauce Bold"/>
                </a:rPr>
                <a:t>Poodles</a:t>
              </a:r>
              <a:r>
                <a:rPr lang="en-US" sz="2400" dirty="0">
                  <a:latin typeface="Open Sauce"/>
                  <a:ea typeface="Open Sauce"/>
                  <a:cs typeface="Open Sauce"/>
                  <a:sym typeface="Open Sauce"/>
                </a:rPr>
                <a:t> come in standard, miniature, and toy sizes, showcasing intelligence and elegance. They are hypoallergenic, making them a great choice for families with allergies, and excel in obedience training.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5346700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3200" u="none" strike="noStrike" spc="-78" dirty="0"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Poodle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963400" y="5603525"/>
            <a:ext cx="4800600" cy="3707075"/>
            <a:chOff x="-308941" y="-104775"/>
            <a:chExt cx="6400800" cy="4942768"/>
          </a:xfrm>
        </p:grpSpPr>
        <p:sp>
          <p:nvSpPr>
            <p:cNvPr id="9" name="TextBox 9"/>
            <p:cNvSpPr txBox="1"/>
            <p:nvPr/>
          </p:nvSpPr>
          <p:spPr>
            <a:xfrm>
              <a:off x="-308941" y="900675"/>
              <a:ext cx="6400800" cy="393731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400" dirty="0">
                  <a:latin typeface="Open Sauce"/>
                  <a:ea typeface="Open Sauce"/>
                  <a:cs typeface="Open Sauce"/>
                  <a:sym typeface="Open Sauce"/>
                </a:rPr>
                <a:t>The </a:t>
              </a:r>
              <a:r>
                <a:rPr lang="en-US" sz="2400" b="1" dirty="0">
                  <a:latin typeface="Open Sauce Bold"/>
                  <a:ea typeface="Open Sauce Bold"/>
                  <a:cs typeface="Open Sauce Bold"/>
                  <a:sym typeface="Open Sauce Bold"/>
                </a:rPr>
                <a:t>German Shepherd</a:t>
              </a:r>
              <a:r>
                <a:rPr lang="en-US" sz="2400" dirty="0">
                  <a:latin typeface="Open Sauce"/>
                  <a:ea typeface="Open Sauce"/>
                  <a:cs typeface="Open Sauce"/>
                  <a:sym typeface="Open Sauce"/>
                </a:rPr>
                <a:t> is highly regarded for its loyalty and protective instincts. This breed is versatile, excelling in various roles like service, working, and companionship, requiring consistent training and socialization.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5346700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3200" u="none" strike="noStrike" spc="-78" dirty="0"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German Shepherd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6750" y="659606"/>
            <a:ext cx="11201400" cy="2169319"/>
            <a:chOff x="0" y="-9525"/>
            <a:chExt cx="14935200" cy="2892425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"/>
              <a:ext cx="14935200" cy="1381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 dirty="0"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Popular Dog Breeds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225675"/>
              <a:ext cx="13423900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</a:pPr>
              <a:r>
                <a:rPr lang="en-US" sz="3199" u="none" strike="noStrike" spc="-95" dirty="0">
                  <a:latin typeface="Open Sauce"/>
                  <a:ea typeface="Open Sauce"/>
                  <a:cs typeface="Open Sauce"/>
                  <a:sym typeface="Open Sauce"/>
                </a:rPr>
                <a:t>Discovering Their Unique Traits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868401" y="752281"/>
            <a:ext cx="3752850" cy="1583725"/>
            <a:chOff x="0" y="0"/>
            <a:chExt cx="2920388" cy="107975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D5E9AB62-0170-4E6C-9A92-D19BD4E2D14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9868" y="3317967"/>
            <a:ext cx="2820416" cy="187326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CC9F3CC-2CFC-4B76-BE77-A685BF4F43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3270239"/>
            <a:ext cx="2953079" cy="196871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C5237B6-BA2F-41A3-A23A-371614878B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3270239"/>
            <a:ext cx="2743199" cy="18788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C6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5143500"/>
            <a:ext cx="4673280" cy="4011694"/>
            <a:chOff x="0" y="0"/>
            <a:chExt cx="6231040" cy="5348926"/>
          </a:xfrm>
        </p:grpSpPr>
        <p:sp>
          <p:nvSpPr>
            <p:cNvPr id="3" name="TextBox 3"/>
            <p:cNvSpPr txBox="1"/>
            <p:nvPr/>
          </p:nvSpPr>
          <p:spPr>
            <a:xfrm>
              <a:off x="0" y="1343629"/>
              <a:ext cx="6231040" cy="40052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26"/>
                </a:lnSpc>
              </a:pPr>
              <a:r>
                <a:rPr lang="en-US" sz="2447">
                  <a:solidFill>
                    <a:srgbClr val="8A7F78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Tail wagging is a friendly gesture that indicates happiness and excitement in dogs. The position and speed of the wag can reveal different emotions, making it a vital communication tool.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6231040" cy="7316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42"/>
                </a:lnSpc>
                <a:spcBef>
                  <a:spcPct val="0"/>
                </a:spcBef>
              </a:pPr>
              <a:r>
                <a:rPr lang="en-US" sz="3030" u="none" strike="noStrike" spc="-90">
                  <a:solidFill>
                    <a:srgbClr val="8A7F7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Tail Wagging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5143500"/>
            <a:ext cx="4400612" cy="4185285"/>
            <a:chOff x="0" y="0"/>
            <a:chExt cx="5867482" cy="5580380"/>
          </a:xfrm>
        </p:grpSpPr>
        <p:sp>
          <p:nvSpPr>
            <p:cNvPr id="6" name="TextBox 6"/>
            <p:cNvSpPr txBox="1"/>
            <p:nvPr/>
          </p:nvSpPr>
          <p:spPr>
            <a:xfrm>
              <a:off x="0" y="1271979"/>
              <a:ext cx="5867482" cy="43084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26"/>
                </a:lnSpc>
              </a:pPr>
              <a:r>
                <a:rPr lang="en-US" sz="2304">
                  <a:solidFill>
                    <a:srgbClr val="8A7F78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Barking serves as a dog's vocal communication, expressing various feelings. Dogs may bark to alert, play, or seek attention, and understanding the context helps in responding appropriately to their needs.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5867482" cy="6771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94"/>
                </a:lnSpc>
                <a:spcBef>
                  <a:spcPct val="0"/>
                </a:spcBef>
              </a:pPr>
              <a:r>
                <a:rPr lang="en-US" sz="2853" u="none" strike="noStrike" spc="-85">
                  <a:solidFill>
                    <a:srgbClr val="8A7F7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Barking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5143500"/>
            <a:ext cx="4226915" cy="4411654"/>
            <a:chOff x="0" y="0"/>
            <a:chExt cx="5635886" cy="5882205"/>
          </a:xfrm>
        </p:grpSpPr>
        <p:sp>
          <p:nvSpPr>
            <p:cNvPr id="9" name="TextBox 9"/>
            <p:cNvSpPr txBox="1"/>
            <p:nvPr/>
          </p:nvSpPr>
          <p:spPr>
            <a:xfrm>
              <a:off x="0" y="1229794"/>
              <a:ext cx="5635886" cy="46524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99"/>
                </a:lnSpc>
              </a:pPr>
              <a:r>
                <a:rPr lang="en-US" sz="2213">
                  <a:solidFill>
                    <a:srgbClr val="8A7F78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Dogs communicate significantly through body language, including posture, ear position, and facial expressions. Observing these cues can help owners identify their dog's emotions and improve the bond between them.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5635886" cy="6545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6"/>
                </a:lnSpc>
                <a:spcBef>
                  <a:spcPct val="0"/>
                </a:spcBef>
              </a:pPr>
              <a:r>
                <a:rPr lang="en-US" sz="2740" u="none" strike="noStrike" spc="-82">
                  <a:solidFill>
                    <a:srgbClr val="8A7F7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Body Language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6750" y="666750"/>
            <a:ext cx="11772722" cy="3333602"/>
            <a:chOff x="0" y="0"/>
            <a:chExt cx="15696962" cy="4444803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"/>
              <a:ext cx="15696962" cy="3124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408"/>
                </a:lnSpc>
                <a:spcBef>
                  <a:spcPct val="0"/>
                </a:spcBef>
              </a:pPr>
              <a:r>
                <a:rPr lang="en-US" sz="8408" u="none" strike="noStrike" spc="-252">
                  <a:solidFill>
                    <a:srgbClr val="8A7F7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Understanding Dog Behavior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3754542"/>
              <a:ext cx="14108579" cy="6902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035"/>
                </a:lnSpc>
              </a:pPr>
              <a:r>
                <a:rPr lang="en-US" sz="3363" u="none" strike="noStrike" spc="-100">
                  <a:solidFill>
                    <a:srgbClr val="8A7F78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Insights into canine communication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773847" y="752281"/>
            <a:ext cx="3847403" cy="1422505"/>
            <a:chOff x="0" y="0"/>
            <a:chExt cx="5129871" cy="189667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896673" cy="1896673"/>
            </a:xfrm>
            <a:custGeom>
              <a:avLst/>
              <a:gdLst/>
              <a:ahLst/>
              <a:cxnLst/>
              <a:rect l="l" t="t" r="r" b="b"/>
              <a:pathLst>
                <a:path w="1896673" h="1896673">
                  <a:moveTo>
                    <a:pt x="0" y="0"/>
                  </a:moveTo>
                  <a:lnTo>
                    <a:pt x="1896673" y="0"/>
                  </a:lnTo>
                  <a:lnTo>
                    <a:pt x="1896673" y="1896673"/>
                  </a:lnTo>
                  <a:lnTo>
                    <a:pt x="0" y="1896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1616599" y="0"/>
              <a:ext cx="1896673" cy="1896673"/>
            </a:xfrm>
            <a:custGeom>
              <a:avLst/>
              <a:gdLst/>
              <a:ahLst/>
              <a:cxnLst/>
              <a:rect l="l" t="t" r="r" b="b"/>
              <a:pathLst>
                <a:path w="1896673" h="1896673">
                  <a:moveTo>
                    <a:pt x="0" y="0"/>
                  </a:moveTo>
                  <a:lnTo>
                    <a:pt x="1896673" y="0"/>
                  </a:lnTo>
                  <a:lnTo>
                    <a:pt x="1896673" y="1896673"/>
                  </a:lnTo>
                  <a:lnTo>
                    <a:pt x="0" y="1896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3233198" y="0"/>
              <a:ext cx="1896673" cy="1896673"/>
            </a:xfrm>
            <a:custGeom>
              <a:avLst/>
              <a:gdLst/>
              <a:ahLst/>
              <a:cxnLst/>
              <a:rect l="l" t="t" r="r" b="b"/>
              <a:pathLst>
                <a:path w="1896673" h="1896673">
                  <a:moveTo>
                    <a:pt x="0" y="0"/>
                  </a:moveTo>
                  <a:lnTo>
                    <a:pt x="1896673" y="0"/>
                  </a:lnTo>
                  <a:lnTo>
                    <a:pt x="1896673" y="1896673"/>
                  </a:lnTo>
                  <a:lnTo>
                    <a:pt x="0" y="1896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4590628"/>
            <a:ext cx="4210050" cy="4095250"/>
            <a:chOff x="0" y="-104775"/>
            <a:chExt cx="5346700" cy="4484919"/>
          </a:xfrm>
        </p:grpSpPr>
        <p:sp>
          <p:nvSpPr>
            <p:cNvPr id="3" name="TextBox 3"/>
            <p:cNvSpPr txBox="1"/>
            <p:nvPr/>
          </p:nvSpPr>
          <p:spPr>
            <a:xfrm>
              <a:off x="0" y="1146175"/>
              <a:ext cx="5346700" cy="32339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400" dirty="0">
                  <a:solidFill>
                    <a:srgbClr val="8A7F78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 well-balanced diet is crucial for a dog’s health, providing necessary nutrients for energy, growth, and overall well-being. Consult a vet for specific dietary needs based on age and breed.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5346700" cy="5055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3200" u="none" strike="noStrike" spc="-78" dirty="0">
                  <a:solidFill>
                    <a:srgbClr val="8A7F7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Proper Nutrition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172201" y="4596807"/>
            <a:ext cx="4800599" cy="4021482"/>
            <a:chOff x="-53574" y="-104775"/>
            <a:chExt cx="5400274" cy="4708191"/>
          </a:xfrm>
        </p:grpSpPr>
        <p:sp>
          <p:nvSpPr>
            <p:cNvPr id="6" name="TextBox 6"/>
            <p:cNvSpPr txBox="1"/>
            <p:nvPr/>
          </p:nvSpPr>
          <p:spPr>
            <a:xfrm>
              <a:off x="0" y="1146175"/>
              <a:ext cx="5346700" cy="34572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400" dirty="0">
                  <a:solidFill>
                    <a:srgbClr val="8A7F78"/>
                  </a:solidFill>
                  <a:latin typeface="Open Sauce"/>
                  <a:ea typeface="Open Sauce"/>
                  <a:cs typeface="Open Sauce"/>
                  <a:sym typeface="Open Sauce"/>
                </a:rPr>
                <a:t>Grooming helps maintain a dog’s coat and skin health. Regular brushing prevents matting and reduces shedding, while baths keep your dog clean and comfortable, enhancing their overall appearance.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-53574" y="-104775"/>
              <a:ext cx="5400274" cy="5404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3200" u="none" strike="noStrike" spc="-78" dirty="0">
                  <a:solidFill>
                    <a:srgbClr val="8A7F7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Regular Grooming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868150" y="4590628"/>
            <a:ext cx="5205738" cy="3655764"/>
            <a:chOff x="-267061" y="-104775"/>
            <a:chExt cx="5613761" cy="5525462"/>
          </a:xfrm>
        </p:grpSpPr>
        <p:sp>
          <p:nvSpPr>
            <p:cNvPr id="9" name="TextBox 9"/>
            <p:cNvSpPr txBox="1"/>
            <p:nvPr/>
          </p:nvSpPr>
          <p:spPr>
            <a:xfrm>
              <a:off x="-267061" y="1519527"/>
              <a:ext cx="5443929" cy="39011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400" dirty="0">
                  <a:solidFill>
                    <a:srgbClr val="8A7F78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Exercise is essential for a dog’s physical and mental health. Regular walks, playtime, and outdoor activities enrich their lives, prevent boredom, and help manage weight by promoting active lifestyles.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5346700" cy="6977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3200" u="none" strike="noStrike" spc="-78" dirty="0">
                  <a:solidFill>
                    <a:srgbClr val="8A7F7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Daily Exercise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6750" y="666750"/>
            <a:ext cx="11201400" cy="2162175"/>
            <a:chOff x="0" y="0"/>
            <a:chExt cx="14935200" cy="288290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"/>
              <a:ext cx="14935200" cy="1626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8A7F7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Dog Care Essentials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225675"/>
              <a:ext cx="13423900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</a:pPr>
              <a:r>
                <a:rPr lang="en-US" sz="3199" u="none" strike="noStrike" spc="-95">
                  <a:solidFill>
                    <a:srgbClr val="8A7F78"/>
                  </a:solidFill>
                  <a:latin typeface="Open Sauce"/>
                  <a:ea typeface="Open Sauce"/>
                  <a:cs typeface="Open Sauce"/>
                  <a:sym typeface="Open Sauce"/>
                </a:rPr>
                <a:t>Key components for happy dogs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087601" y="752281"/>
            <a:ext cx="2533650" cy="1263353"/>
            <a:chOff x="0" y="0"/>
            <a:chExt cx="2920388" cy="107975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C6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59606"/>
            <a:ext cx="9391650" cy="5593088"/>
            <a:chOff x="0" y="-9525"/>
            <a:chExt cx="12522200" cy="7457451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11099800" cy="2972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8A7F7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Fun Facts About Dogs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209665"/>
              <a:ext cx="11099800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u="none" strike="noStrike" spc="-95">
                  <a:solidFill>
                    <a:srgbClr val="8A7F7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Discover the amazing capabilities of dogs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4968615"/>
              <a:ext cx="12522200" cy="24793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800" u="none" strike="noStrike" dirty="0">
                  <a:solidFill>
                    <a:srgbClr val="8A7F78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Dogs possess an extraordinary sense of smell, </a:t>
              </a:r>
              <a:r>
                <a:rPr lang="en-US" sz="2800" b="1" u="none" strike="noStrike" dirty="0">
                  <a:solidFill>
                    <a:srgbClr val="8A7F78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capable of detecting scents</a:t>
              </a:r>
              <a:r>
                <a:rPr lang="en-US" sz="2800" u="none" strike="noStrike" dirty="0">
                  <a:solidFill>
                    <a:srgbClr val="8A7F78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at incredibly low concentrations, which makes them valuable in search and rescue operations, as well as assisting in medical diagnoses.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7F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29875" y="0"/>
            <a:ext cx="7858125" cy="10287000"/>
            <a:chOff x="0" y="0"/>
            <a:chExt cx="1764443" cy="23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64443" cy="2309817"/>
            </a:xfrm>
            <a:custGeom>
              <a:avLst/>
              <a:gdLst/>
              <a:ahLst/>
              <a:cxnLst/>
              <a:rect l="l" t="t" r="r" b="b"/>
              <a:pathLst>
                <a:path w="1764443" h="2309817">
                  <a:moveTo>
                    <a:pt x="0" y="0"/>
                  </a:moveTo>
                  <a:lnTo>
                    <a:pt x="1764443" y="0"/>
                  </a:lnTo>
                  <a:lnTo>
                    <a:pt x="1764443" y="2309817"/>
                  </a:lnTo>
                  <a:lnTo>
                    <a:pt x="0" y="2309817"/>
                  </a:lnTo>
                  <a:close/>
                </a:path>
              </a:pathLst>
            </a:custGeom>
            <a:blipFill>
              <a:blip r:embed="rId2"/>
              <a:stretch>
                <a:fillRect t="-255" b="-25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8324850" cy="3657600"/>
            <a:chOff x="0" y="0"/>
            <a:chExt cx="11099800" cy="4876800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11099800" cy="2972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F0EFE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Thank You for Attending!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14725"/>
              <a:ext cx="11068284" cy="1362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u="none" strike="noStrike" spc="-95">
                  <a:solidFill>
                    <a:srgbClr val="F0EFE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We appreciate your love for dogs and their care!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04830" y="7626960"/>
            <a:ext cx="4846643" cy="1791955"/>
            <a:chOff x="0" y="0"/>
            <a:chExt cx="6462190" cy="238927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468</Words>
  <Application>Microsoft Office PowerPoint</Application>
  <PresentationFormat>Custom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ITC Avant Garde Gothic</vt:lpstr>
      <vt:lpstr>Arial</vt:lpstr>
      <vt:lpstr>Calibri</vt:lpstr>
      <vt:lpstr>Open Sauce Bold</vt:lpstr>
      <vt:lpstr>Open Sauce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Discovering Our Loyal Companions</dc:title>
  <dc:creator>BARATHI CHRISTY</dc:creator>
  <dc:description>Presentation - Discovering Our Loyal Companions</dc:description>
  <cp:lastModifiedBy>BARATHI CHRISTY</cp:lastModifiedBy>
  <cp:revision>9</cp:revision>
  <dcterms:created xsi:type="dcterms:W3CDTF">2006-08-16T00:00:00Z</dcterms:created>
  <dcterms:modified xsi:type="dcterms:W3CDTF">2025-11-20T05:56:50Z</dcterms:modified>
  <dc:identifier>DAG3LyKhZU4</dc:identifier>
</cp:coreProperties>
</file>